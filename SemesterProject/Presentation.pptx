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8" r:id="rId1"/>
  </p:sldMasterIdLst>
  <p:notesMasterIdLst>
    <p:notesMasterId r:id="rId50"/>
  </p:notesMasterIdLst>
  <p:handoutMasterIdLst>
    <p:handoutMasterId r:id="rId51"/>
  </p:handoutMasterIdLst>
  <p:sldIdLst>
    <p:sldId id="257" r:id="rId2"/>
    <p:sldId id="261" r:id="rId3"/>
    <p:sldId id="260" r:id="rId4"/>
    <p:sldId id="258" r:id="rId5"/>
    <p:sldId id="259" r:id="rId6"/>
    <p:sldId id="262" r:id="rId7"/>
    <p:sldId id="264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65" r:id="rId32"/>
    <p:sldId id="289" r:id="rId33"/>
    <p:sldId id="290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266" r:id="rId44"/>
    <p:sldId id="303" r:id="rId45"/>
    <p:sldId id="304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37"/>
  </p:normalViewPr>
  <p:slideViewPr>
    <p:cSldViewPr snapToGrid="0">
      <p:cViewPr varScale="1">
        <p:scale>
          <a:sx n="147" d="100"/>
          <a:sy n="14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10C8D6-E383-28CA-27A5-A446FC9EB8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DF79D-21CB-1C5F-426B-9219E8867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C60E8-10E8-2344-85FF-7AC25F19E42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C095A-2666-14A7-0F0A-9C073B7A7E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8773B-9331-07FA-8A7C-0D1FD4B068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BCFEB-8C71-3B4D-9AFC-098EE4BFA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6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FED31-2EEB-C44F-88F0-FEF14BE2ED84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D7085-545D-074F-B63B-E5ADB6440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5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6E09-8993-5ADB-4F46-61992774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4C3E-DF94-AB51-16EF-B8474F09E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17566-8D0F-302D-D369-4A308429E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3D750-CA6C-9CC0-10D9-747769497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47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57AE0-68BC-FEB0-52E0-A6C9A27A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4770-4717-E61B-362C-6242CD89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6C60D-553C-3A1B-3DE0-F106BC6FF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3126-8673-E21A-EBB2-D1347A5D2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D318-FF19-073E-B4C8-2E431D4A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69AA0-E4ED-C221-B3C8-922AC072A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F8FE2-ADB1-D9C5-520E-0CD957CAD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D905-0363-6126-2E05-2582E7B89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B898-BF34-8F86-CDCB-03628082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2042D-0069-DC0E-3E82-D366C786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515F5-9003-FBC6-37DB-F1D92BA6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81BA-91A6-0D55-6F72-6BBD3F20F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0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2620-08ED-6852-42BD-1816162F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4AB2C-FB65-4E95-B130-31684F5D9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4E6FB-1A06-188B-C862-80C932F3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92756-3B8C-07FF-BC48-EBAC2691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977A-8AA5-F903-990C-779AFA2D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5B257-F67B-4C14-8D40-FE04BE9A8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5650E-9F06-17BB-48C8-F25C7495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D9AD-8859-0CD0-93B7-4383F5A8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98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A5C6-9189-FC70-2705-5587A740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E51B9-F785-6EFF-802F-EC31E6623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481B5-BD3B-1C0D-0218-007C36C18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BAA2-9487-D948-1E20-F87C236A1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29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587-9B98-4387-C413-9DFDDB4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CCF1D-74B0-7266-EB02-13C01A8B4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550C2-1981-6D83-1C84-85459BA3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702D-8183-0FAD-74F1-D1A912B0EF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3BCE-690E-8AF6-1307-5BD206E6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A1870-E1E8-011E-C81B-6696FE56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971F3-B8FF-2E23-8696-0D4E6A415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F725-0736-62C4-F10E-D4693A668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56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CE0E-5E27-0B7F-8ABA-4E1748B3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96A85-A155-F83B-7C13-5A3178C18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A65FE-4927-2263-83F3-187B8A0BE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B33A-43D3-8113-617E-B6521C27F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91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833A-5BDD-5B90-A572-1A045F84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3F41F4-1EBE-06E0-E3F2-42F6CB02E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E780F-9A96-DF9F-ABB3-5AF9661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63B3-A1D8-45A9-3C25-6EE856916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8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AD01-CA6D-E980-F33F-05C592433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F2CE0-48C5-1D69-1712-D040A0DD1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26D61-2D36-09F3-AD28-813627D0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04834-A390-DE50-2472-1C2D5C1CD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89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74D2-03E4-685C-FE81-5BD7B720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7CFA8-8B08-548B-C3E9-61FB78492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2F5E6-471D-33BF-CE42-41270924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0CB2-53FC-D2DF-9FD5-3C26CD8A3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28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401E-EB96-F070-9118-48EAC6D6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E38D8-1427-92EC-C589-9E1A2CB8A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2198A-92E9-5EA8-ABC7-5881F46FB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7043-EB24-F315-3538-0AE490020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79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8B77-36A6-BAF8-3D67-5FF4C79D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A4618-8817-28DE-D7C8-BD5F9B17F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0DE21-7915-3C2D-AC21-3D0615D2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B69D-1FDB-21D3-BE06-22946D1E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0561-93C9-6091-FC8B-B02CB9A7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9B446-EE79-FB91-97FA-9DCB39A5F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44557-3C2A-1068-1FB4-455233A0B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10D69-F393-08F4-3B5F-F0DA830D4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43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BD52-2876-47DE-CF3C-E49D6DC2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86D06-ED65-DCDD-AC37-2CE718DD0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BAEA0-4958-23AA-1121-C14CE5C6C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67BE-EAED-D4DA-271B-8585BFE8F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4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7457-49C8-1D2E-C34E-449031DDC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8869F-54C9-696B-983D-3A4D6D9F9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2355A-D85D-EB97-F5FF-B276ED702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61F9-98BB-4EE4-F9B3-E0CB4B85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19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E126D-F3EE-67AD-3514-5941370B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ED59D-7B50-9720-1832-A6A12359F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2A670-9397-C6F5-386C-0DD86675F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6900-293B-C4E4-1694-B788FD6AF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81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0BB5E-182C-CB6A-009A-941A5D64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FE83-D139-8056-156B-E176963B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1A0B8-2903-4CE4-F68C-49E698CC6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E6300-EA75-7833-3629-2101C36F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1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913E-D850-3AB1-0453-EB9F9FC0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FB98-4E86-2195-C170-1A072956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8183B-BB35-F081-AAE7-020C0481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E972-96B5-BACB-F155-C14FE156A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46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7FB-8F6F-081A-0CEA-E9235932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7FE0A-07B5-B702-5132-D94E69F60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C30F8-CCCC-69A6-CCC0-C2AD266AC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F757-48E6-A413-B971-3D2440542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4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00CE0-6230-64C3-5E3B-B5703645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7B121C-DCC2-342F-32CA-9C07829A3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B0510-24F4-BCBE-1C12-FF5DC4B87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8C24E-DA9F-7D7E-9618-77D57561B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73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9F98-B833-EE44-03B1-D2C649BA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BC59B-2A71-86EE-6472-3AB4DF5C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0EE4-F706-4F79-AF9F-4DFAB0A0E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D8207-7056-A07B-9A8F-F4166E3FD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03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AAEB-66A0-1652-308C-D5F3801B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96009-8213-E20C-F39B-8E4F64C0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46640-1B32-F52B-2F68-166A9816F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DDE0-EFF7-5114-1A4B-8DC92BD82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5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A4CE-CF52-62A8-D583-16DF6B98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389D4-FA8D-73EC-4B8B-8DD82B2A6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F2FB7-CB7F-15EE-B7AD-5E04B3D93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A845-7154-E631-AB6E-B859D6B68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6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38F94-5222-BED9-310D-928A150A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828A-4A57-7D4C-A7BE-259D641D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67F8D-9E8B-7149-5F2A-C6BD11C8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7FAA-9EF6-42C0-EEFC-4E1DF8D0E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176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52F6-C241-83A3-8B9D-26A0FE1D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A533D-DDA1-BE6A-FCD1-137F677CD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E60D5-4F40-8BEA-B6A7-35692EF84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DCB68-02C4-04FF-4DB5-EAF11361B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17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12C6-3772-FE7C-F77E-62DC9A29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A8DB4-264A-44F9-20D5-874BEDF6D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9863C-A5FC-F475-A96C-7DCB8F8C3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F7CBD-5B07-B8EB-2EDA-00FEAB8C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0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ADF-6708-F9F2-3D2B-EDCA9510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D67C5-9FB1-54C9-EA10-F67513D7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47AC4-1856-92E8-F1FC-85B382C5B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1DAD-3091-AA22-D0D2-8EC219670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51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03D3-FA16-0850-7C7C-4FEEF16E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9E107-ADF2-C850-A2D3-677CAC23E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86EE3-71E7-63AD-5EF4-96A275E4F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D7AF-16F6-4A3A-1A08-76F016F4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298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C06C-86A4-708C-443A-91EEE774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78391-56A2-B232-269E-768C81783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553B3-8132-4A44-F3CB-041DEBB20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95BF1-66E8-9F12-EE48-B559A1460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0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CF4F-39B6-D62F-5E37-82641DD0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76548-5106-C81E-7345-D478ACFF4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4C34B-7798-B49E-92B2-99F64FBD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7011A-E13B-342B-6992-7441302DE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934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186A-2B02-E849-3A66-BFB77D98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7105A-C004-1831-227B-20724B8C7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4EC8C-E39A-0F42-0505-255AE3A7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6D0D-BC6F-8D0E-D594-35AAA84FF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69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1A7D-C61E-5532-CE52-343FE6AF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ECFC2-8560-6854-782D-57952DBAE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45378-BA87-154E-4C9F-E81708459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F1D47-3124-644A-7636-258CF8FF9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10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7A1D-0B23-2F9E-A926-72FFF47D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4B684-F3C6-30DC-042B-29166C5CC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21E20-72FC-70AB-BCA5-FA15D8E33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5D031-F6CA-A77F-61FC-263903D20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D7085-545D-074F-B63B-E5ADB64407A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1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4D32-18D1-1DEE-E671-631AD8F77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410B8-E533-B4A4-CF40-05734DEE7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1DE16-9EBA-769E-F668-7F7CBAE0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A3402-B08B-BB8C-D108-E92E4233B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4D1B-65D2-31C7-3D3F-28DE98EE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6BB2-4F11-78E5-FBDD-C93F1AAA3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80B57-A7E5-983C-E845-8A25A558A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1405C-5906-C27A-A1A8-E79CEEF95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90C9-D593-D220-C772-FD34623E4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5CC7-FB3E-73CD-DFB8-D0BB5BEC2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4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D272-7AF9-5F42-FE94-E8AE8E57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F365-1024-6CD9-4111-21206CF9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962F3-820F-9448-A034-0CB894F7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90285-DD8B-BDFF-48EB-FF2B73D2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FBD2E-485F-C0F4-5E03-4583770A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3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83BB-606B-D3F5-2ACB-47BEB953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0AB9-5444-3854-68BE-31379AE33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7789C-CF0D-5D0E-6E47-13C5F1835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048F-338B-811F-EE3B-97860E77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A8379-C761-6A38-96BB-B98E4CDD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08AA-F0CE-C198-A5C4-09E62BF0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E819-BE51-9CE4-5EBD-FC1CEECB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D3C9B-629C-16CB-308B-C72C1F4F1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B7364-B323-8A9C-127F-DB307A8A1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6C286-36E0-9E73-8712-97D96350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6911FA-63CC-AA1D-B836-02FE294C0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B4639-10C5-6F2C-FB6B-759AE8CA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A626A-5C8B-4469-115C-8AC3C02B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774E0-AE87-9190-91E2-33D819C2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CC120-C2E5-E58F-3453-108AD730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4AA56-B39A-94AB-CE48-C0B22F3A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77D44-5734-C0DF-56C6-57C60906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C7DA0-7B5E-2A71-6207-72A7FB5E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5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BF45A-92B4-6F35-5F6A-5C0CCA2B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E1AFC-B188-41FC-DC03-AE51D8D5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B7D8-789A-189B-84CF-511AFEE8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6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0FF3-C006-07B7-C3E3-163DA592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60C5-55E9-48F8-695D-E6699C55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2AD78-1FBE-F062-5C97-1272FA61D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384DC-84C8-2AE8-613E-D429E908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7D074-4F66-F4C3-327A-C8A7B0E5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98D8D-DE06-11CB-3D65-BD72812E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C08B-8CF1-5929-B164-B3F7108D8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B607F-BFB4-5EF5-85B7-C79F3FD54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10132-0B7C-971B-335D-6C3D87C44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5098F-8BD9-CFC4-2F28-B5D8FA39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F0E8E-8D5B-5D82-CCCC-05F40D71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384B1-532E-37EA-4C22-835F000E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0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008D3-5364-2033-A46E-04A82404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39BC1-6ED6-B372-6727-043AE1894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44622-7AAF-5984-9094-3AE7AE245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02074-D245-CB29-D3EE-A229FDBD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46042-323D-2D46-8040-4FC8D803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4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A4D48-796E-3DEC-5CB1-DFD952005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D2E4F-DD7C-B1AB-B6C5-875111A00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2ED54-D4CE-1D53-9225-FDB5613A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4C57B-DB9C-4633-F050-284759AD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C62F7-B81C-1AAC-9104-70EF78E3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2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8EF76-04B1-912C-8B70-0FF83A76C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58D50-449C-A863-636C-86E6749E7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46796-C7B4-98B0-A219-892F254EF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4E2FD-D3AB-1E4A-8CC1-DAF83946C1C2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3C9D4-475D-F965-022A-FD2635E6C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8A5AE-8323-3B29-DC6E-8E3D0077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1165B-7E39-0D49-8B59-D2CCC339B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2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9" r:id="rId1"/>
    <p:sldLayoutId id="2147484220" r:id="rId2"/>
    <p:sldLayoutId id="2147484221" r:id="rId3"/>
    <p:sldLayoutId id="2147484222" r:id="rId4"/>
    <p:sldLayoutId id="2147484223" r:id="rId5"/>
    <p:sldLayoutId id="2147484224" r:id="rId6"/>
    <p:sldLayoutId id="2147484225" r:id="rId7"/>
    <p:sldLayoutId id="2147484226" r:id="rId8"/>
    <p:sldLayoutId id="2147484227" r:id="rId9"/>
    <p:sldLayoutId id="2147484228" r:id="rId10"/>
    <p:sldLayoutId id="21474842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6303-8082-EADF-B4EC-44708CD99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Zombie Zero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85AA6-2170-4074-DB99-128497E57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Technical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83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19D3-E40D-49D9-6010-2AFB416B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B4DA-5C3F-F44E-E742-140902A6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production ready game deployed online</a:t>
            </a:r>
          </a:p>
          <a:p>
            <a:r>
              <a:rPr lang="en-US" dirty="0"/>
              <a:t>Should be fun to play</a:t>
            </a:r>
          </a:p>
          <a:p>
            <a:r>
              <a:rPr lang="en-US" dirty="0"/>
              <a:t>No proof on concept, an actual game</a:t>
            </a:r>
          </a:p>
          <a:p>
            <a:r>
              <a:rPr lang="en-US" dirty="0"/>
              <a:t>Playable by everyone (Cross Platform)</a:t>
            </a:r>
          </a:p>
        </p:txBody>
      </p:sp>
    </p:spTree>
    <p:extLst>
      <p:ext uri="{BB962C8B-B14F-4D97-AF65-F5344CB8AC3E}">
        <p14:creationId xmlns:p14="http://schemas.microsoft.com/office/powerpoint/2010/main" val="319925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19F6A-AD73-686A-12BE-BF04384B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3CA76-74D9-C634-A9E5-1CCF98155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Aniq Nasir</a:t>
            </a:r>
          </a:p>
          <a:p>
            <a:pPr lvl="1"/>
            <a:r>
              <a:rPr lang="en-US" dirty="0"/>
              <a:t>GitHub Profile</a:t>
            </a:r>
          </a:p>
          <a:p>
            <a:pPr lvl="1"/>
            <a:r>
              <a:rPr lang="en-US" dirty="0"/>
              <a:t>Worked on Core Game Logic, Core Game Systems …</a:t>
            </a:r>
          </a:p>
          <a:p>
            <a:r>
              <a:rPr lang="en-US" dirty="0"/>
              <a:t>Hasham Tanveer</a:t>
            </a:r>
          </a:p>
          <a:p>
            <a:pPr lvl="1"/>
            <a:r>
              <a:rPr lang="en-US" dirty="0"/>
              <a:t>GitHub Profile</a:t>
            </a:r>
          </a:p>
          <a:p>
            <a:pPr lvl="1"/>
            <a:r>
              <a:rPr lang="en-US" dirty="0"/>
              <a:t>Worked on Game UI, High Scores and Weapon Systems</a:t>
            </a:r>
          </a:p>
          <a:p>
            <a:r>
              <a:rPr lang="en-US" dirty="0"/>
              <a:t>Muhammad Mujtaba</a:t>
            </a:r>
          </a:p>
          <a:p>
            <a:pPr lvl="1"/>
            <a:r>
              <a:rPr lang="en-US" dirty="0"/>
              <a:t>GitHub Profile</a:t>
            </a:r>
          </a:p>
          <a:p>
            <a:pPr lvl="1"/>
            <a:r>
              <a:rPr lang="en-US" dirty="0"/>
              <a:t>Worked on Game Engine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13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C8F-AE8D-8355-C8AD-7AE50A46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9D19-7CA9-30C9-A058-92AA4972B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Genre</a:t>
            </a:r>
          </a:p>
          <a:p>
            <a:pPr lvl="1"/>
            <a:r>
              <a:rPr lang="en-US" dirty="0"/>
              <a:t>Top-Down Shooter</a:t>
            </a:r>
          </a:p>
          <a:p>
            <a:r>
              <a:rPr lang="en-US" dirty="0"/>
              <a:t>Objective</a:t>
            </a:r>
          </a:p>
          <a:p>
            <a:pPr lvl="1"/>
            <a:r>
              <a:rPr lang="en-US" dirty="0"/>
              <a:t>Clear all zombies in the city</a:t>
            </a:r>
          </a:p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Windows</a:t>
            </a:r>
          </a:p>
          <a:p>
            <a:pPr lvl="1"/>
            <a:r>
              <a:rPr lang="en-US" dirty="0"/>
              <a:t>MacOS</a:t>
            </a:r>
          </a:p>
          <a:p>
            <a:pPr lvl="1"/>
            <a:r>
              <a:rPr lang="en-US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418608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D04B-1590-C4B4-3294-A052C218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0AC3-3C65-2907-1717-57D9C9296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Java as main Language</a:t>
            </a:r>
          </a:p>
          <a:p>
            <a:r>
              <a:rPr lang="en-US" dirty="0"/>
              <a:t>Uses JavaFX’s FXML &amp; CSS for UI</a:t>
            </a:r>
          </a:p>
          <a:p>
            <a:r>
              <a:rPr lang="en-US" dirty="0"/>
              <a:t>Built using a Custom Game Engine using JavaFX</a:t>
            </a:r>
          </a:p>
          <a:p>
            <a:r>
              <a:rPr lang="en-US" dirty="0"/>
              <a:t>Architecture heavily inspired from Unity Game Engine</a:t>
            </a:r>
          </a:p>
          <a:p>
            <a:r>
              <a:rPr lang="en-US" dirty="0"/>
              <a:t>Consists of two separate independent modules</a:t>
            </a:r>
          </a:p>
          <a:p>
            <a:pPr lvl="1"/>
            <a:r>
              <a:rPr lang="en-US" dirty="0"/>
              <a:t>Engine</a:t>
            </a:r>
          </a:p>
          <a:p>
            <a:pPr lvl="1"/>
            <a:r>
              <a:rPr lang="en-US" dirty="0"/>
              <a:t>Game</a:t>
            </a:r>
          </a:p>
        </p:txBody>
      </p:sp>
    </p:spTree>
    <p:extLst>
      <p:ext uri="{BB962C8B-B14F-4D97-AF65-F5344CB8AC3E}">
        <p14:creationId xmlns:p14="http://schemas.microsoft.com/office/powerpoint/2010/main" val="7901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9065-F59A-CC02-A9A1-F3D4F4A8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Engine High Level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72F92-5310-7B8D-97E3-0E10E9D07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6769" cy="4351338"/>
          </a:xfrm>
        </p:spPr>
        <p:txBody>
          <a:bodyPr/>
          <a:lstStyle/>
          <a:p>
            <a:r>
              <a:rPr lang="en-US" dirty="0"/>
              <a:t>Start</a:t>
            </a:r>
          </a:p>
          <a:p>
            <a:r>
              <a:rPr lang="en-US" dirty="0"/>
              <a:t>Initialize</a:t>
            </a:r>
          </a:p>
          <a:p>
            <a:r>
              <a:rPr lang="en-US" dirty="0"/>
              <a:t>Start Game Loop</a:t>
            </a:r>
          </a:p>
          <a:p>
            <a:r>
              <a:rPr lang="en-US" dirty="0"/>
              <a:t>Hand Off to game module</a:t>
            </a:r>
          </a:p>
          <a:p>
            <a:r>
              <a:rPr lang="en-US" dirty="0"/>
              <a:t>End Game Loop</a:t>
            </a:r>
          </a:p>
          <a:p>
            <a:r>
              <a:rPr lang="en-US" dirty="0"/>
              <a:t>Clean Up</a:t>
            </a:r>
          </a:p>
          <a:p>
            <a:r>
              <a:rPr lang="en-US" dirty="0"/>
              <a:t>Exit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C690C5-754E-7422-13CE-53C2B770E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969" y="1474040"/>
            <a:ext cx="502678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2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3DA7-C11E-65CA-BBFB-87E02ACCFB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2AC46-FE79-4F73-D0BA-576401F13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Deep Dive</a:t>
            </a:r>
          </a:p>
        </p:txBody>
      </p:sp>
    </p:spTree>
    <p:extLst>
      <p:ext uri="{BB962C8B-B14F-4D97-AF65-F5344CB8AC3E}">
        <p14:creationId xmlns:p14="http://schemas.microsoft.com/office/powerpoint/2010/main" val="191218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8B4B-B464-E4B1-3BD5-85C07AA2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DAE9-F00F-AF4E-11BC-24FDFBAF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GameWorld</a:t>
            </a:r>
            <a:r>
              <a:rPr lang="en-US" dirty="0"/>
              <a:t> owns the JavaFX Stage and Scene</a:t>
            </a:r>
          </a:p>
          <a:p>
            <a:r>
              <a:rPr lang="en-US" dirty="0"/>
              <a:t>Drives the </a:t>
            </a:r>
            <a:r>
              <a:rPr lang="en-US" dirty="0" err="1"/>
              <a:t>AnimationTimer</a:t>
            </a:r>
            <a:r>
              <a:rPr lang="en-US" dirty="0"/>
              <a:t> loop for main Game Loop</a:t>
            </a:r>
          </a:p>
          <a:p>
            <a:r>
              <a:rPr lang="en-US" dirty="0"/>
              <a:t>Delegates each frame to the active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Switches scenes by swapping root children (world + UI)</a:t>
            </a:r>
          </a:p>
          <a:p>
            <a:endParaRPr lang="en-US" dirty="0"/>
          </a:p>
          <a:p>
            <a:r>
              <a:rPr lang="en-US" dirty="0"/>
              <a:t>Usage: </a:t>
            </a:r>
          </a:p>
          <a:p>
            <a:pPr lvl="1"/>
            <a:r>
              <a:rPr lang="en-US" dirty="0" err="1"/>
              <a:t>MainWorld</a:t>
            </a:r>
            <a:r>
              <a:rPr lang="en-US" dirty="0"/>
              <a:t> in game module</a:t>
            </a:r>
          </a:p>
        </p:txBody>
      </p:sp>
    </p:spTree>
    <p:extLst>
      <p:ext uri="{BB962C8B-B14F-4D97-AF65-F5344CB8AC3E}">
        <p14:creationId xmlns:p14="http://schemas.microsoft.com/office/powerpoint/2010/main" val="2579618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D586-1149-D7CF-9952-57D7B91F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A6D5-4D79-8593-33F9-9202B4CF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CC39-F8ED-3731-9A36-0850856E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 single scene in the game</a:t>
            </a:r>
          </a:p>
          <a:p>
            <a:r>
              <a:rPr lang="en-US" dirty="0"/>
              <a:t>Implements </a:t>
            </a:r>
            <a:r>
              <a:rPr lang="en-US" dirty="0" err="1"/>
              <a:t>Initable</a:t>
            </a:r>
            <a:r>
              <a:rPr lang="en-US" dirty="0"/>
              <a:t>, Updatable</a:t>
            </a:r>
          </a:p>
          <a:p>
            <a:r>
              <a:rPr lang="en-US" dirty="0"/>
              <a:t>Owns the game object list, the world canvas, and the FXML UI</a:t>
            </a:r>
          </a:p>
          <a:p>
            <a:r>
              <a:rPr lang="en-US" dirty="0"/>
              <a:t>Has separate layers for </a:t>
            </a:r>
            <a:r>
              <a:rPr lang="en-US" dirty="0" err="1"/>
              <a:t>GameObject</a:t>
            </a:r>
            <a:r>
              <a:rPr lang="en-US" dirty="0"/>
              <a:t> rendering, UI Rendering, </a:t>
            </a:r>
            <a:r>
              <a:rPr lang="en-US" dirty="0" err="1"/>
              <a:t>DevConsoleRendering</a:t>
            </a:r>
            <a:endParaRPr lang="en-US" dirty="0"/>
          </a:p>
          <a:p>
            <a:r>
              <a:rPr lang="en-US" dirty="0"/>
              <a:t>Abstracts input hooks from JavaFX into overridable methods.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Usage: </a:t>
            </a:r>
          </a:p>
          <a:p>
            <a:pPr lvl="1"/>
            <a:r>
              <a:rPr lang="en-US" dirty="0"/>
              <a:t>All Scenes</a:t>
            </a:r>
          </a:p>
        </p:txBody>
      </p:sp>
    </p:spTree>
    <p:extLst>
      <p:ext uri="{BB962C8B-B14F-4D97-AF65-F5344CB8AC3E}">
        <p14:creationId xmlns:p14="http://schemas.microsoft.com/office/powerpoint/2010/main" val="405468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9EB6-DF47-DB13-7674-81206D24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432E-9DEA-C1DC-82E7-4E0DD4A54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LifeCycle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5051-E6AB-4FB9-6649-49D445FC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Init</a:t>
            </a:r>
          </a:p>
          <a:p>
            <a:pPr lvl="1"/>
            <a:r>
              <a:rPr lang="en-US"/>
              <a:t>Loads Mandatory layout.fxml from edu/nust/game/scenes/[CLASS_NAME]/layout.fxml</a:t>
            </a:r>
          </a:p>
          <a:p>
            <a:pPr lvl="1"/>
            <a:r>
              <a:rPr lang="en-US"/>
              <a:t>Loads Optional style.ss from edu/nust/game/scenes/[CLASS_NAME]/style.css</a:t>
            </a:r>
          </a:p>
          <a:p>
            <a:pPr lvl="1"/>
            <a:r>
              <a:rPr lang="en-US"/>
              <a:t>Initialize GameCamera</a:t>
            </a:r>
          </a:p>
          <a:p>
            <a:pPr lvl="1"/>
            <a:r>
              <a:rPr lang="en-US"/>
              <a:t>Initailize DevConsole</a:t>
            </a:r>
          </a:p>
          <a:p>
            <a:pPr lvl="1"/>
            <a:r>
              <a:rPr lang="en-US"/>
              <a:t>Setup Input Handler</a:t>
            </a:r>
          </a:p>
          <a:p>
            <a:r>
              <a:rPr lang="en-US"/>
              <a:t>Game Loop (Received from GameWorld)</a:t>
            </a:r>
          </a:p>
          <a:p>
            <a:pPr lvl="1"/>
            <a:r>
              <a:rPr lang="en-US"/>
              <a:t>Update self</a:t>
            </a:r>
          </a:p>
          <a:p>
            <a:pPr lvl="1"/>
            <a:r>
              <a:rPr lang="en-US"/>
              <a:t>Update GameObjects</a:t>
            </a:r>
          </a:p>
          <a:p>
            <a:pPr lvl="1"/>
            <a:r>
              <a:rPr lang="en-US"/>
              <a:t>LateUpdate self</a:t>
            </a:r>
          </a:p>
          <a:p>
            <a:pPr lvl="1"/>
            <a:r>
              <a:rPr lang="en-US"/>
              <a:t>LateUpdate GameObjects</a:t>
            </a:r>
          </a:p>
          <a:p>
            <a:pPr lvl="1"/>
            <a:r>
              <a:rPr lang="en-US"/>
              <a:t>Update Camera</a:t>
            </a:r>
          </a:p>
          <a:p>
            <a:pPr lvl="1"/>
            <a:r>
              <a:rPr lang="en-US"/>
              <a:t>Remove queued GameObjects</a:t>
            </a:r>
          </a:p>
          <a:p>
            <a:pPr lvl="1"/>
            <a:r>
              <a:rPr lang="en-US"/>
              <a:t>Render Objects In View</a:t>
            </a:r>
          </a:p>
          <a:p>
            <a:pPr lvl="1"/>
            <a:r>
              <a:rPr lang="en-US"/>
              <a:t>Render Debug Shapes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444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551A-ECF0-A41B-4201-1341F8DB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97D0-691E-67E7-9B1F-DDE8F832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</a:t>
            </a:r>
            <a:r>
              <a:rPr lang="en-US" dirty="0" err="1"/>
              <a:t>GameCamera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8E75-028D-9751-E1E7-68A73B41A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change camera zoom</a:t>
            </a:r>
          </a:p>
          <a:p>
            <a:r>
              <a:rPr lang="en-US" dirty="0"/>
              <a:t>Can follow a given position</a:t>
            </a:r>
          </a:p>
          <a:p>
            <a:r>
              <a:rPr lang="en-US" dirty="0"/>
              <a:t>For Movement the Canvas is moved, thus all </a:t>
            </a:r>
            <a:r>
              <a:rPr lang="en-US" dirty="0" err="1"/>
              <a:t>GameObjects</a:t>
            </a:r>
            <a:r>
              <a:rPr lang="en-US" dirty="0"/>
              <a:t> moves when camera is moved</a:t>
            </a:r>
          </a:p>
          <a:p>
            <a:r>
              <a:rPr lang="en-US" dirty="0"/>
              <a:t>Can Shake</a:t>
            </a:r>
          </a:p>
          <a:p>
            <a:pPr lvl="1"/>
            <a:r>
              <a:rPr lang="en-US" dirty="0"/>
              <a:t>Depends upon given intensity</a:t>
            </a:r>
          </a:p>
          <a:p>
            <a:pPr lvl="1"/>
            <a:r>
              <a:rPr lang="en-US" dirty="0"/>
              <a:t>Consecutive calls increase shake intensity</a:t>
            </a:r>
          </a:p>
          <a:p>
            <a:pPr lvl="1"/>
            <a:r>
              <a:rPr lang="en-US" dirty="0"/>
              <a:t>Working</a:t>
            </a:r>
          </a:p>
          <a:p>
            <a:pPr lvl="2"/>
            <a:r>
              <a:rPr lang="en-US" dirty="0"/>
              <a:t>Stores 2 positions (actual position and render position)</a:t>
            </a:r>
          </a:p>
        </p:txBody>
      </p:sp>
    </p:spTree>
    <p:extLst>
      <p:ext uri="{BB962C8B-B14F-4D97-AF65-F5344CB8AC3E}">
        <p14:creationId xmlns:p14="http://schemas.microsoft.com/office/powerpoint/2010/main" val="234212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2798-44FC-7E19-6261-F129DECB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E4D8F-0DDC-540B-122C-077495F4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(Render Order And Culling)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8432E-4B6D-7C7A-23E2-47C0718E8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Objects are sorted by </a:t>
            </a:r>
            <a:r>
              <a:rPr lang="en-US" dirty="0" err="1"/>
              <a:t>renderLayer</a:t>
            </a:r>
            <a:r>
              <a:rPr lang="en-US" dirty="0"/>
              <a:t> and culled by camera bounds.</a:t>
            </a:r>
          </a:p>
          <a:p>
            <a:r>
              <a:rPr lang="en-US" dirty="0"/>
              <a:t>Object bounds are provided by renderer components using </a:t>
            </a:r>
            <a:r>
              <a:rPr lang="en-US" dirty="0" err="1"/>
              <a:t>WorldBoundsProvider</a:t>
            </a:r>
            <a:r>
              <a:rPr lang="en-US" dirty="0"/>
              <a:t> interface</a:t>
            </a:r>
          </a:p>
          <a:p>
            <a:r>
              <a:rPr lang="en-US" dirty="0" err="1"/>
              <a:t>renderLayer</a:t>
            </a:r>
            <a:r>
              <a:rPr lang="en-US" dirty="0"/>
              <a:t> by default is 0, if two objects has same </a:t>
            </a:r>
            <a:r>
              <a:rPr lang="en-US" dirty="0" err="1"/>
              <a:t>renderLayer</a:t>
            </a:r>
            <a:r>
              <a:rPr lang="en-US" dirty="0"/>
              <a:t>, then the one added last takes precedence for rendering</a:t>
            </a:r>
          </a:p>
        </p:txBody>
      </p:sp>
    </p:spTree>
    <p:extLst>
      <p:ext uri="{BB962C8B-B14F-4D97-AF65-F5344CB8AC3E}">
        <p14:creationId xmlns:p14="http://schemas.microsoft.com/office/powerpoint/2010/main" val="182088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731C-2DA8-D19D-3F95-6084F65A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AB70-F7A0-2038-4D55-5C531CA6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GameScene</a:t>
            </a:r>
            <a:r>
              <a:rPr lang="en-US" dirty="0"/>
              <a:t> (Debug Rendering)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88A8-3C70-678D-72F7-C794467DF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Grid, mouse location, and timed/frame debug shapes can be rendered on the world canvas on top of all </a:t>
            </a:r>
            <a:r>
              <a:rPr lang="en-US" dirty="0" err="1"/>
              <a:t>gameobjects</a:t>
            </a:r>
            <a:r>
              <a:rPr lang="en-US" dirty="0"/>
              <a:t>.</a:t>
            </a:r>
          </a:p>
          <a:p>
            <a:r>
              <a:rPr lang="en-US" dirty="0"/>
              <a:t>Grid renders a grid, was used in blank scenes when scene background hadn’t created</a:t>
            </a:r>
          </a:p>
          <a:p>
            <a:r>
              <a:rPr lang="en-US" dirty="0"/>
              <a:t>Mouse Location shows a red crosshair at the mouse, highlighting the world coordinates of that point</a:t>
            </a:r>
          </a:p>
          <a:p>
            <a:r>
              <a:rPr lang="en-US" dirty="0"/>
              <a:t>Timed shapes stored in a set and cleared after the given TimeSpan</a:t>
            </a:r>
          </a:p>
          <a:p>
            <a:r>
              <a:rPr lang="en-US" dirty="0"/>
              <a:t>Frame-only shapes cleared each frame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2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1133-933F-9BEC-187F-1CA83FF8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29BA-4C31-E947-1DF9-F1295AFF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AA5A-59A2-20A9-828F-4342A89A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any and all objects in the game</a:t>
            </a:r>
          </a:p>
          <a:p>
            <a:r>
              <a:rPr lang="en-US" dirty="0"/>
              <a:t>Implements </a:t>
            </a:r>
            <a:r>
              <a:rPr lang="en-US" dirty="0" err="1"/>
              <a:t>Initable</a:t>
            </a:r>
            <a:r>
              <a:rPr lang="en-US" dirty="0"/>
              <a:t>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Composes of Components with their own lifecycle</a:t>
            </a:r>
          </a:p>
          <a:p>
            <a:r>
              <a:rPr lang="en-US" dirty="0"/>
              <a:t>Can have multiple Tags</a:t>
            </a:r>
          </a:p>
          <a:p>
            <a:pPr lvl="1"/>
            <a:r>
              <a:rPr lang="en-US" dirty="0"/>
              <a:t>A Tag is simply a class extending the Tag class, the class itself is used as a tag rather than a string</a:t>
            </a:r>
          </a:p>
        </p:txBody>
      </p:sp>
    </p:spTree>
    <p:extLst>
      <p:ext uri="{BB962C8B-B14F-4D97-AF65-F5344CB8AC3E}">
        <p14:creationId xmlns:p14="http://schemas.microsoft.com/office/powerpoint/2010/main" val="380073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4B28-F16B-D185-DDCC-0548A618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9ED0-AEFF-4060-85F5-764B4176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C6A-3AE4-AE74-43FF-FAAD1378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Represents behavior of a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Implements </a:t>
            </a:r>
            <a:r>
              <a:rPr lang="en-US" dirty="0" err="1"/>
              <a:t>Initable</a:t>
            </a:r>
            <a:r>
              <a:rPr lang="en-US" dirty="0"/>
              <a:t>, Updatable and </a:t>
            </a:r>
            <a:r>
              <a:rPr lang="en-US" dirty="0" err="1"/>
              <a:t>Renderable</a:t>
            </a:r>
            <a:endParaRPr lang="en-US" dirty="0"/>
          </a:p>
          <a:p>
            <a:r>
              <a:rPr lang="en-US" dirty="0"/>
              <a:t>Can be added or removed at runtime</a:t>
            </a:r>
          </a:p>
          <a:p>
            <a:r>
              <a:rPr lang="en-US" dirty="0"/>
              <a:t>Can be added to multiple different </a:t>
            </a:r>
            <a:r>
              <a:rPr lang="en-US" dirty="0" err="1"/>
              <a:t>GameObjects</a:t>
            </a:r>
            <a:r>
              <a:rPr lang="en-US" dirty="0"/>
              <a:t>, but only one instance can exist on a </a:t>
            </a:r>
            <a:r>
              <a:rPr lang="en-US" dirty="0" err="1"/>
              <a:t>GameObject</a:t>
            </a:r>
            <a:r>
              <a:rPr lang="en-US" dirty="0"/>
              <a:t> at a given time</a:t>
            </a:r>
          </a:p>
        </p:txBody>
      </p:sp>
    </p:spTree>
    <p:extLst>
      <p:ext uri="{BB962C8B-B14F-4D97-AF65-F5344CB8AC3E}">
        <p14:creationId xmlns:p14="http://schemas.microsoft.com/office/powerpoint/2010/main" val="4118102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AB79-6A0D-8F06-3DE4-1136141E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DDBE-D544-B57A-78F3-BA44ECE4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35BA-FC1D-D781-D352-4ADF9308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60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1A6A-1DBD-79AD-C4B4-8DFFC037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918A-E707-4F0A-EF77-CCBB59C1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(Transform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F5FAB-7B68-C7A1-91CA-93DD66B66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Guaranteed to be present on any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Used to represent position, rotation and anchor of this object</a:t>
            </a:r>
          </a:p>
          <a:p>
            <a:r>
              <a:rPr lang="en-US" dirty="0"/>
              <a:t>Anchor can be set using a Vector2D, predefined helpers for setting anchor to center, top left, bottom, center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91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A2F6-F0C8-B648-F3ED-96C8E3716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8E50-4507-38FE-8539-27B3B4F4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BoxRenderer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E579-FC33-A057-40E7-87427CF1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Box with the given size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as well</a:t>
            </a:r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Corner radius can be applied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14591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3998-E83C-007F-BB7B-C55E5B2A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89B5-7D53-8F39-963E-81753841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CircleRenderer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AB219-35E2-3FE3-2BE5-BF5B9DDA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Renders a circle with the given radius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Is affected by anchor positioning</a:t>
            </a:r>
          </a:p>
          <a:p>
            <a:r>
              <a:rPr lang="en-US" dirty="0"/>
              <a:t>Can be filled, stroked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624550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2662-F8C5-D130-5E45-C53A4464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6070-CF8F-FB31-9772-26A28C0B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(</a:t>
            </a:r>
            <a:r>
              <a:rPr lang="en-US" dirty="0" err="1"/>
              <a:t>SpriteRenderer</a:t>
            </a:r>
            <a:r>
              <a:rPr lang="en-US" dirty="0"/>
              <a:t> - Pre Existing)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52E33-7F01-5AAE-FCC5-9E53C0134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Draws a sprite or sprite sheet with the given frame counts</a:t>
            </a:r>
          </a:p>
          <a:p>
            <a:r>
              <a:rPr lang="en-US" dirty="0"/>
              <a:t>Position is fetched from Transform component of attached </a:t>
            </a:r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Can be rotated and affected by anchor positioning</a:t>
            </a:r>
          </a:p>
          <a:p>
            <a:r>
              <a:rPr lang="en-US" dirty="0"/>
              <a:t>Supports tint and opacity</a:t>
            </a:r>
          </a:p>
          <a:p>
            <a:r>
              <a:rPr lang="en-US" dirty="0"/>
              <a:t>Supports Animation by setting animation time, after the given time the frame is automatically changed</a:t>
            </a:r>
          </a:p>
          <a:p>
            <a:r>
              <a:rPr lang="en-US" dirty="0"/>
              <a:t>Can be flipped</a:t>
            </a:r>
          </a:p>
          <a:p>
            <a:r>
              <a:rPr lang="en-US" dirty="0"/>
              <a:t>Properties can be changed at runtime</a:t>
            </a:r>
          </a:p>
        </p:txBody>
      </p:sp>
    </p:spTree>
    <p:extLst>
      <p:ext uri="{BB962C8B-B14F-4D97-AF65-F5344CB8AC3E}">
        <p14:creationId xmlns:p14="http://schemas.microsoft.com/office/powerpoint/2010/main" val="2725137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E64A-B458-DB69-9B3E-1C7BECC6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51EC-87CD-BF6F-6F75-4135F461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9FE5-2A28-54E3-7AA5-C060CF103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by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 err="1"/>
              <a:t>worldLayer</a:t>
            </a:r>
            <a:r>
              <a:rPr lang="en-US" dirty="0"/>
              <a:t> is a Canvas</a:t>
            </a:r>
          </a:p>
          <a:p>
            <a:pPr lvl="1"/>
            <a:r>
              <a:rPr lang="en-US" dirty="0"/>
              <a:t>Renders </a:t>
            </a:r>
            <a:r>
              <a:rPr lang="en-US" dirty="0" err="1"/>
              <a:t>GameObjects</a:t>
            </a:r>
            <a:endParaRPr lang="en-US" dirty="0"/>
          </a:p>
          <a:p>
            <a:r>
              <a:rPr lang="en-US" dirty="0" err="1"/>
              <a:t>uiLayer</a:t>
            </a:r>
            <a:r>
              <a:rPr lang="en-US" dirty="0"/>
              <a:t> loaded from FXML and CSS</a:t>
            </a:r>
          </a:p>
          <a:p>
            <a:pPr lvl="1"/>
            <a:r>
              <a:rPr lang="en-US" dirty="0"/>
              <a:t>Renders JavaFX nodes</a:t>
            </a:r>
          </a:p>
          <a:p>
            <a:r>
              <a:rPr lang="en-US" dirty="0" err="1"/>
              <a:t>consoleLayer</a:t>
            </a:r>
            <a:r>
              <a:rPr lang="en-US" dirty="0"/>
              <a:t> stacked on top</a:t>
            </a:r>
          </a:p>
          <a:p>
            <a:pPr lvl="1"/>
            <a:r>
              <a:rPr lang="en-US" dirty="0"/>
              <a:t>Renders DevConsole, above everything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500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4F5AC-601D-7C4F-AF57-60C677D3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5C4C-8EB3-FF9A-AE91-3F78A90A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81B5-3117-4474-3947-E6C3A4F6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Handled in </a:t>
            </a:r>
            <a:r>
              <a:rPr lang="en-US" dirty="0" err="1"/>
              <a:t>GameScene</a:t>
            </a:r>
            <a:r>
              <a:rPr lang="en-US" dirty="0"/>
              <a:t> by overriding methods given in </a:t>
            </a:r>
            <a:r>
              <a:rPr lang="en-US" dirty="0" err="1"/>
              <a:t>InputHandler</a:t>
            </a:r>
            <a:r>
              <a:rPr lang="en-US" dirty="0"/>
              <a:t> interface</a:t>
            </a:r>
          </a:p>
          <a:p>
            <a:r>
              <a:rPr lang="en-US" dirty="0"/>
              <a:t>Has the following events</a:t>
            </a:r>
          </a:p>
          <a:p>
            <a:pPr lvl="1"/>
            <a:r>
              <a:rPr lang="en-US" dirty="0" err="1"/>
              <a:t>onKeyPressed</a:t>
            </a:r>
            <a:endParaRPr lang="en-US" dirty="0"/>
          </a:p>
          <a:p>
            <a:pPr lvl="1"/>
            <a:r>
              <a:rPr lang="en-US" dirty="0" err="1"/>
              <a:t>onKeyReleased</a:t>
            </a:r>
            <a:endParaRPr lang="en-US" dirty="0"/>
          </a:p>
          <a:p>
            <a:pPr lvl="1"/>
            <a:r>
              <a:rPr lang="en-US" dirty="0" err="1"/>
              <a:t>onMousedPressed</a:t>
            </a:r>
            <a:endParaRPr lang="en-US" dirty="0"/>
          </a:p>
          <a:p>
            <a:pPr lvl="1"/>
            <a:r>
              <a:rPr lang="en-US" dirty="0" err="1"/>
              <a:t>onMouseReleased</a:t>
            </a:r>
            <a:endParaRPr lang="en-US" dirty="0"/>
          </a:p>
          <a:p>
            <a:pPr lvl="1"/>
            <a:r>
              <a:rPr lang="en-US" dirty="0" err="1"/>
              <a:t>onMouseMoved</a:t>
            </a:r>
            <a:endParaRPr lang="en-US" dirty="0"/>
          </a:p>
          <a:p>
            <a:pPr lvl="1"/>
            <a:r>
              <a:rPr lang="en-US" dirty="0" err="1"/>
              <a:t>onMouseDragged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5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2A13-1A3A-7804-CD48-E4CF279E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CD40-3F37-14AE-42B6-5E42DA37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D7694-F64E-6455-64E3-1C44A65B2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opened in any scene by pressing “Shift + `”, and exit by pressing “Esc”</a:t>
            </a:r>
          </a:p>
          <a:p>
            <a:r>
              <a:rPr lang="en-US" dirty="0"/>
              <a:t>Commands to modify game </a:t>
            </a:r>
            <a:r>
              <a:rPr lang="en-US" dirty="0" err="1"/>
              <a:t>behaviour</a:t>
            </a:r>
            <a:r>
              <a:rPr lang="en-US" dirty="0"/>
              <a:t> at runtime</a:t>
            </a:r>
          </a:p>
          <a:p>
            <a:r>
              <a:rPr lang="en-US" dirty="0"/>
              <a:t>Supports suggestions and history</a:t>
            </a:r>
          </a:p>
          <a:p>
            <a:r>
              <a:rPr lang="en-US" dirty="0"/>
              <a:t>Displays the following stats</a:t>
            </a:r>
          </a:p>
          <a:p>
            <a:pPr lvl="1"/>
            <a:r>
              <a:rPr lang="en-US" dirty="0"/>
              <a:t>Game FPS</a:t>
            </a:r>
          </a:p>
          <a:p>
            <a:pPr lvl="1"/>
            <a:r>
              <a:rPr lang="en-US" dirty="0"/>
              <a:t>Total Objects added</a:t>
            </a:r>
          </a:p>
          <a:p>
            <a:pPr lvl="1"/>
            <a:r>
              <a:rPr lang="en-US" dirty="0"/>
              <a:t>Objects being Rendered (objects not visible are culled)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250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8FAE-2FB5-36C9-D971-04C732BA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5B9-ACEF-4E23-3858-8384E854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(Command)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B523-65B6-3C53-8BEA-9B7E8C27D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Commands stored in a map with normalized names</a:t>
            </a:r>
          </a:p>
          <a:p>
            <a:r>
              <a:rPr lang="en-US" dirty="0"/>
              <a:t>Executors return strings shown in console output</a:t>
            </a:r>
          </a:p>
          <a:p>
            <a:r>
              <a:rPr lang="en-US" dirty="0"/>
              <a:t>Every </a:t>
            </a:r>
            <a:r>
              <a:rPr lang="en-US" dirty="0" err="1"/>
              <a:t>GameScene</a:t>
            </a:r>
            <a:r>
              <a:rPr lang="en-US" dirty="0"/>
              <a:t> can register commands that can be executed in that scene</a:t>
            </a:r>
          </a:p>
          <a:p>
            <a:r>
              <a:rPr lang="en-US" dirty="0"/>
              <a:t>Shows suggestion with command usage </a:t>
            </a:r>
            <a:r>
              <a:rPr lang="en-US" dirty="0" err="1"/>
              <a:t>realtime</a:t>
            </a:r>
            <a:r>
              <a:rPr lang="en-US" dirty="0"/>
              <a:t>, can press tab to autocomplete the command</a:t>
            </a:r>
          </a:p>
          <a:p>
            <a:r>
              <a:rPr lang="en-US" dirty="0"/>
              <a:t>Preserves History of Previously Executed Commands in this session</a:t>
            </a:r>
          </a:p>
          <a:p>
            <a:r>
              <a:rPr lang="en-US" dirty="0"/>
              <a:t>Show output of </a:t>
            </a:r>
            <a:r>
              <a:rPr lang="en-US" dirty="0" err="1"/>
              <a:t>previos</a:t>
            </a:r>
            <a:r>
              <a:rPr lang="en-US" dirty="0"/>
              <a:t> commands as well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811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BFEBD-C124-EB81-98A5-C15A5356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60F-D6BC-56C9-9A78-913C67BB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DevConsole (Default Commands)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F1B7-D22C-6FCA-0226-333DB378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/help</a:t>
            </a:r>
          </a:p>
          <a:p>
            <a:pPr lvl="1"/>
            <a:r>
              <a:rPr lang="en-US" dirty="0"/>
              <a:t>Shows Registered Commands</a:t>
            </a:r>
          </a:p>
          <a:p>
            <a:r>
              <a:rPr lang="en-US" dirty="0"/>
              <a:t>/</a:t>
            </a:r>
            <a:r>
              <a:rPr lang="en-US" dirty="0" err="1"/>
              <a:t>debugGrid</a:t>
            </a:r>
            <a:r>
              <a:rPr lang="en-US" dirty="0"/>
              <a:t> [</a:t>
            </a:r>
            <a:r>
              <a:rPr lang="en-US" dirty="0" err="1"/>
              <a:t>true|false|number|empty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grid, with given size if number specified</a:t>
            </a:r>
          </a:p>
          <a:p>
            <a:r>
              <a:rPr lang="en-US" dirty="0"/>
              <a:t>/</a:t>
            </a:r>
            <a:r>
              <a:rPr lang="en-US" dirty="0" err="1"/>
              <a:t>debugMouseLocation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world mouse crosshair + coordinates.</a:t>
            </a:r>
          </a:p>
          <a:p>
            <a:r>
              <a:rPr lang="en-US" dirty="0"/>
              <a:t>/</a:t>
            </a:r>
            <a:r>
              <a:rPr lang="en-US" dirty="0" err="1"/>
              <a:t>setCameraZoom</a:t>
            </a:r>
            <a:r>
              <a:rPr lang="en-US" dirty="0"/>
              <a:t> [number]</a:t>
            </a:r>
          </a:p>
          <a:p>
            <a:pPr lvl="1"/>
            <a:r>
              <a:rPr lang="en-US" dirty="0"/>
              <a:t>Set camera zoom</a:t>
            </a:r>
          </a:p>
          <a:p>
            <a:r>
              <a:rPr lang="en-US" dirty="0"/>
              <a:t>/</a:t>
            </a:r>
            <a:r>
              <a:rPr lang="en-US" dirty="0" err="1"/>
              <a:t>toggleUI</a:t>
            </a:r>
            <a:r>
              <a:rPr lang="en-US" dirty="0"/>
              <a:t> [</a:t>
            </a:r>
            <a:r>
              <a:rPr lang="en-US" dirty="0" err="1"/>
              <a:t>true|false|empty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Toggle FXML UI visibility (excluding dev console).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50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F0FD-D3A2-F44B-0981-FD60DACA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3D97-45BB-FB6E-ECE9-B393CE75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Management (Resources)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F0F5-3130-5603-2899-7FA15835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Path for </a:t>
            </a:r>
            <a:r>
              <a:rPr lang="en-US" dirty="0" err="1"/>
              <a:t>resouces</a:t>
            </a:r>
            <a:r>
              <a:rPr lang="en-US" dirty="0"/>
              <a:t> are resolved relative to /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 in resources directory</a:t>
            </a:r>
          </a:p>
          <a:p>
            <a:r>
              <a:rPr lang="en-US" dirty="0"/>
              <a:t>resources directory is bundled with the executable by Java</a:t>
            </a:r>
          </a:p>
          <a:p>
            <a:r>
              <a:rPr lang="en-US" dirty="0"/>
              <a:t>Supports optional Resources and mandatory resources by </a:t>
            </a:r>
            <a:r>
              <a:rPr lang="en-US" dirty="0" err="1"/>
              <a:t>tryGetResource</a:t>
            </a:r>
            <a:r>
              <a:rPr lang="en-US" dirty="0"/>
              <a:t>(...) and </a:t>
            </a:r>
            <a:r>
              <a:rPr lang="en-US" dirty="0" err="1"/>
              <a:t>getResourceOrThrow</a:t>
            </a:r>
            <a:r>
              <a:rPr lang="en-US" dirty="0"/>
              <a:t>(...) respectively</a:t>
            </a:r>
          </a:p>
          <a:p>
            <a:r>
              <a:rPr lang="en-US" dirty="0"/>
              <a:t>Utility for loading a JavaFX Image from the given path, assumes loading image is mandatory</a:t>
            </a:r>
          </a:p>
          <a:p>
            <a:r>
              <a:rPr lang="en-US" dirty="0"/>
              <a:t>Used extensively to get every kind of resource including, text, image, or any other type</a:t>
            </a:r>
          </a:p>
        </p:txBody>
      </p:sp>
    </p:spTree>
    <p:extLst>
      <p:ext uri="{BB962C8B-B14F-4D97-AF65-F5344CB8AC3E}">
        <p14:creationId xmlns:p14="http://schemas.microsoft.com/office/powerpoint/2010/main" val="2971812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F94B-C09F-A9DE-25EE-108C3E77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0542-CEB1-A62E-C0EC-008CA817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93F07-D363-D31A-0709-F17EC22F9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Primitive classes to represent positions, velocity, time, areas etc.</a:t>
            </a:r>
          </a:p>
          <a:p>
            <a:r>
              <a:rPr lang="en-US" dirty="0"/>
              <a:t>All of Below has methods for arithmetic operations and more</a:t>
            </a:r>
          </a:p>
          <a:p>
            <a:r>
              <a:rPr lang="en-US" dirty="0"/>
              <a:t>Contains</a:t>
            </a:r>
          </a:p>
          <a:p>
            <a:pPr lvl="1"/>
            <a:r>
              <a:rPr lang="en-US" dirty="0"/>
              <a:t>Vector2D</a:t>
            </a:r>
          </a:p>
          <a:p>
            <a:pPr lvl="2"/>
            <a:r>
              <a:rPr lang="en-US" dirty="0"/>
              <a:t>A container for 2 numbers</a:t>
            </a:r>
          </a:p>
          <a:p>
            <a:pPr lvl="2"/>
            <a:r>
              <a:rPr lang="en-US" dirty="0"/>
              <a:t>Used to represent positions, velocities etc.</a:t>
            </a:r>
          </a:p>
          <a:p>
            <a:pPr lvl="2"/>
            <a:r>
              <a:rPr lang="en-US" dirty="0"/>
              <a:t>D stands for double, represents the data type used for storing numbers</a:t>
            </a:r>
          </a:p>
          <a:p>
            <a:pPr lvl="1"/>
            <a:r>
              <a:rPr lang="en-US" dirty="0"/>
              <a:t>TimeSpan</a:t>
            </a:r>
          </a:p>
          <a:p>
            <a:pPr lvl="2"/>
            <a:r>
              <a:rPr lang="en-US" dirty="0"/>
              <a:t>Used to represent a said amount of time</a:t>
            </a:r>
          </a:p>
          <a:p>
            <a:pPr lvl="2"/>
            <a:r>
              <a:rPr lang="en-US" dirty="0"/>
              <a:t>Used instead of int, double etc. to remove confusion regarding unit of time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TimeSpan.fromSeconds(10).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deltaTime.asMilliseconds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units ranging from nanosecond to day</a:t>
            </a:r>
          </a:p>
          <a:p>
            <a:pPr lvl="2"/>
            <a:r>
              <a:rPr lang="en-US" dirty="0"/>
              <a:t>Internally stores the time in the form of nanoseconds</a:t>
            </a:r>
          </a:p>
          <a:p>
            <a:pPr lvl="1"/>
            <a:r>
              <a:rPr lang="en-US" dirty="0"/>
              <a:t>Rectangle</a:t>
            </a:r>
          </a:p>
          <a:p>
            <a:pPr lvl="2"/>
            <a:r>
              <a:rPr lang="en-US" dirty="0"/>
              <a:t>Used to represent an area covered by a Rectangle</a:t>
            </a:r>
          </a:p>
          <a:p>
            <a:pPr lvl="2"/>
            <a:r>
              <a:rPr lang="en-US" dirty="0"/>
              <a:t>Is Axis Aligned, i.e. cannot be rotated</a:t>
            </a:r>
          </a:p>
          <a:p>
            <a:pPr lvl="2"/>
            <a:r>
              <a:rPr lang="en-US" dirty="0"/>
              <a:t>Can be shrunk and grown</a:t>
            </a:r>
          </a:p>
          <a:p>
            <a:pPr lvl="2"/>
            <a:r>
              <a:rPr lang="en-US" dirty="0"/>
              <a:t>Queries for intersection between rectangles, containing a given point etc.</a:t>
            </a:r>
          </a:p>
          <a:p>
            <a:pPr lvl="1"/>
            <a:r>
              <a:rPr lang="en-US" dirty="0"/>
              <a:t>Angle</a:t>
            </a:r>
          </a:p>
          <a:p>
            <a:pPr lvl="2"/>
            <a:r>
              <a:rPr lang="en-US" dirty="0"/>
              <a:t>Used to represent a certain angle</a:t>
            </a:r>
          </a:p>
          <a:p>
            <a:pPr lvl="2"/>
            <a:r>
              <a:rPr lang="en-US" dirty="0"/>
              <a:t>Constructor is privatized, instead factory methods are used that explicitly mention the unit, 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Angle.fromDegrees</a:t>
            </a:r>
            <a:r>
              <a:rPr lang="en-US" dirty="0"/>
              <a:t>(10).</a:t>
            </a:r>
          </a:p>
          <a:p>
            <a:pPr lvl="2"/>
            <a:r>
              <a:rPr lang="en-US" dirty="0"/>
              <a:t>Getting the time value also require explicit unit e.g. </a:t>
            </a:r>
            <a:r>
              <a:rPr lang="en-US" dirty="0" err="1"/>
              <a:t>rotation.getRadians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Has methods for interconversion between radians and degrees</a:t>
            </a:r>
          </a:p>
        </p:txBody>
      </p:sp>
    </p:spTree>
    <p:extLst>
      <p:ext uri="{BB962C8B-B14F-4D97-AF65-F5344CB8AC3E}">
        <p14:creationId xmlns:p14="http://schemas.microsoft.com/office/powerpoint/2010/main" val="3132205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FEBF-DEE5-2B30-DF41-8DA52252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57A4-0DBA-DD84-6313-B7F1F54D5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GameLogger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A770A-947A-E70B-F108-846EC89C0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Wraps SLF4J Logger with custom color prefixes and formatting for each level</a:t>
            </a:r>
          </a:p>
          <a:p>
            <a:r>
              <a:rPr lang="en-US" dirty="0"/>
              <a:t>Writes each log to its own file in logs/</a:t>
            </a:r>
            <a:r>
              <a:rPr lang="en-US" dirty="0" err="1"/>
              <a:t>latest.log</a:t>
            </a:r>
            <a:r>
              <a:rPr lang="en-US" dirty="0"/>
              <a:t>, and archives the old logs based on timestamp logs/archived/</a:t>
            </a:r>
          </a:p>
          <a:p>
            <a:r>
              <a:rPr lang="en-US" dirty="0"/>
              <a:t>Logging disabled in packaged versions</a:t>
            </a:r>
          </a:p>
          <a:p>
            <a:r>
              <a:rPr lang="en-US" dirty="0"/>
              <a:t>Logs can be filtered by one global level</a:t>
            </a:r>
          </a:p>
          <a:p>
            <a:r>
              <a:rPr lang="en-US" dirty="0"/>
              <a:t>Level Types in order:</a:t>
            </a:r>
          </a:p>
          <a:p>
            <a:pPr lvl="1"/>
            <a:r>
              <a:rPr lang="en-US" dirty="0"/>
              <a:t>Trace</a:t>
            </a:r>
          </a:p>
          <a:p>
            <a:pPr lvl="2"/>
            <a:r>
              <a:rPr lang="en-US" dirty="0"/>
              <a:t>Intended to represent function calls to visually trace the program</a:t>
            </a:r>
          </a:p>
          <a:p>
            <a:pPr lvl="1"/>
            <a:r>
              <a:rPr lang="en-US" dirty="0"/>
              <a:t>Debug</a:t>
            </a:r>
          </a:p>
          <a:p>
            <a:pPr lvl="2"/>
            <a:r>
              <a:rPr lang="en-US" dirty="0"/>
              <a:t>Intended for debug only</a:t>
            </a:r>
          </a:p>
          <a:p>
            <a:pPr lvl="1"/>
            <a:r>
              <a:rPr lang="en-US" dirty="0"/>
              <a:t>Info</a:t>
            </a:r>
          </a:p>
          <a:p>
            <a:pPr lvl="2"/>
            <a:r>
              <a:rPr lang="en-US" dirty="0"/>
              <a:t>Default Log Type</a:t>
            </a:r>
          </a:p>
          <a:p>
            <a:pPr lvl="1"/>
            <a:r>
              <a:rPr lang="en-US" dirty="0"/>
              <a:t>Success</a:t>
            </a:r>
          </a:p>
          <a:p>
            <a:pPr lvl="2"/>
            <a:r>
              <a:rPr lang="en-US" dirty="0"/>
              <a:t>Intended to represent a successful operation</a:t>
            </a:r>
          </a:p>
          <a:p>
            <a:pPr lvl="1"/>
            <a:r>
              <a:rPr lang="en-US" dirty="0"/>
              <a:t>Warn</a:t>
            </a:r>
          </a:p>
          <a:p>
            <a:pPr lvl="2"/>
            <a:r>
              <a:rPr lang="en-US" dirty="0"/>
              <a:t>Intended for warnings, i.e. optional things not loaded</a:t>
            </a:r>
          </a:p>
          <a:p>
            <a:pPr lvl="1"/>
            <a:r>
              <a:rPr lang="en-US" dirty="0"/>
              <a:t>Error</a:t>
            </a:r>
          </a:p>
          <a:p>
            <a:pPr lvl="2"/>
            <a:r>
              <a:rPr lang="en-US" dirty="0"/>
              <a:t>Can throw or not based on user preference</a:t>
            </a:r>
          </a:p>
          <a:p>
            <a:pPr lvl="1"/>
            <a:r>
              <a:rPr lang="en-US" dirty="0" err="1"/>
              <a:t>LogProgress</a:t>
            </a:r>
            <a:endParaRPr lang="en-US" dirty="0"/>
          </a:p>
          <a:p>
            <a:pPr lvl="2"/>
            <a:r>
              <a:rPr lang="en-US" dirty="0"/>
              <a:t>Intended to represent a progress that can be started, reported on, and ended</a:t>
            </a:r>
          </a:p>
          <a:p>
            <a:pPr lvl="2"/>
            <a:r>
              <a:rPr lang="en-US" dirty="0"/>
              <a:t>Gives color to the prefix</a:t>
            </a:r>
          </a:p>
        </p:txBody>
      </p:sp>
    </p:spTree>
    <p:extLst>
      <p:ext uri="{BB962C8B-B14F-4D97-AF65-F5344CB8AC3E}">
        <p14:creationId xmlns:p14="http://schemas.microsoft.com/office/powerpoint/2010/main" val="2313476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5E46-1242-6022-C412-6143A6B44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295AD-78F4-9AAC-99F7-DB8AE006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8F2B-B245-E35A-84F0-461784A2F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AudioReference</a:t>
            </a:r>
            <a:r>
              <a:rPr lang="en-US" dirty="0"/>
              <a:t> stores the audio URL and common metadata</a:t>
            </a:r>
          </a:p>
          <a:p>
            <a:r>
              <a:rPr lang="en-US" dirty="0"/>
              <a:t> Created internally by </a:t>
            </a:r>
            <a:r>
              <a:rPr lang="en-US" dirty="0" err="1"/>
              <a:t>GameAudioManager</a:t>
            </a:r>
            <a:r>
              <a:rPr lang="en-US" dirty="0"/>
              <a:t> of </a:t>
            </a:r>
            <a:r>
              <a:rPr lang="en-US" dirty="0" err="1"/>
              <a:t>GameScene</a:t>
            </a:r>
            <a:endParaRPr lang="en-US" dirty="0"/>
          </a:p>
          <a:p>
            <a:r>
              <a:rPr lang="en-US" dirty="0"/>
              <a:t>Two Types</a:t>
            </a:r>
          </a:p>
          <a:p>
            <a:pPr lvl="1"/>
            <a:r>
              <a:rPr lang="en-US" dirty="0" err="1"/>
              <a:t>SoundEffectReference</a:t>
            </a:r>
            <a:endParaRPr lang="en-US" dirty="0"/>
          </a:p>
          <a:p>
            <a:pPr lvl="2"/>
            <a:r>
              <a:rPr lang="en-US" dirty="0"/>
              <a:t>Represents short bursts of sounds like bullet shots etc.</a:t>
            </a:r>
          </a:p>
          <a:p>
            <a:pPr lvl="2"/>
            <a:r>
              <a:rPr lang="en-US" dirty="0"/>
              <a:t>Cannot be paused or have granular control, but can have overlapping instances of same reference</a:t>
            </a:r>
          </a:p>
          <a:p>
            <a:pPr lvl="2"/>
            <a:r>
              <a:rPr lang="en-US" dirty="0"/>
              <a:t>Uses JavaFX Clip internally</a:t>
            </a:r>
          </a:p>
          <a:p>
            <a:pPr lvl="1"/>
            <a:r>
              <a:rPr lang="en-US" dirty="0" err="1"/>
              <a:t>MusicTraceReference</a:t>
            </a:r>
            <a:endParaRPr lang="en-US" dirty="0"/>
          </a:p>
          <a:p>
            <a:pPr lvl="2"/>
            <a:r>
              <a:rPr lang="en-US" dirty="0"/>
              <a:t>Represents long sounds, </a:t>
            </a:r>
            <a:r>
              <a:rPr lang="en-US" dirty="0" err="1"/>
              <a:t>musics</a:t>
            </a:r>
            <a:r>
              <a:rPr lang="en-US" dirty="0"/>
              <a:t> mainly</a:t>
            </a:r>
          </a:p>
          <a:p>
            <a:pPr lvl="2"/>
            <a:r>
              <a:rPr lang="en-US" dirty="0"/>
              <a:t>Can be paused and has granular control, but cannot have overlapping instances of same reference</a:t>
            </a:r>
          </a:p>
          <a:p>
            <a:pPr lvl="2"/>
            <a:r>
              <a:rPr lang="en-US" dirty="0"/>
              <a:t>Uses JavaFX </a:t>
            </a:r>
            <a:r>
              <a:rPr lang="en-US" dirty="0" err="1"/>
              <a:t>MediaPlayer</a:t>
            </a:r>
            <a:r>
              <a:rPr lang="en-US" dirty="0"/>
              <a:t> internally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520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8F12-9472-FF8D-95E2-F9AEEF1D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875-E883-9010-F1F8-D70918A9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(</a:t>
            </a:r>
            <a:r>
              <a:rPr lang="en-US" dirty="0" err="1"/>
              <a:t>GameAudioManager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A982F-2DB7-ED48-06F3-6D0B68A5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Manages all in-game audio</a:t>
            </a:r>
          </a:p>
          <a:p>
            <a:r>
              <a:rPr lang="en-US" dirty="0"/>
              <a:t>Can load and unload an </a:t>
            </a:r>
            <a:r>
              <a:rPr lang="en-US" dirty="0" err="1"/>
              <a:t>AudioReference</a:t>
            </a:r>
            <a:endParaRPr lang="en-US" dirty="0"/>
          </a:p>
          <a:p>
            <a:r>
              <a:rPr lang="en-US" dirty="0"/>
              <a:t>Controls Global Volume for muting, same global volume for both Effects and Tracks</a:t>
            </a:r>
          </a:p>
          <a:p>
            <a:r>
              <a:rPr lang="en-US" dirty="0"/>
              <a:t>Linked to the </a:t>
            </a:r>
            <a:r>
              <a:rPr lang="en-US" dirty="0" err="1"/>
              <a:t>GameWorld</a:t>
            </a:r>
            <a:endParaRPr lang="en-US" dirty="0"/>
          </a:p>
          <a:p>
            <a:r>
              <a:rPr lang="en-US" dirty="0"/>
              <a:t>Loaded Effects are only unloaded when game exits</a:t>
            </a:r>
          </a:p>
          <a:p>
            <a:r>
              <a:rPr lang="en-US" dirty="0" err="1"/>
              <a:t>AudioReferences</a:t>
            </a:r>
            <a:r>
              <a:rPr lang="en-US" dirty="0"/>
              <a:t> persists when switching scenes</a:t>
            </a:r>
          </a:p>
          <a:p>
            <a:r>
              <a:rPr lang="en-US" dirty="0"/>
              <a:t>All loaded references are cached by full relative path; loading the same asset twice returns the existing reference</a:t>
            </a:r>
          </a:p>
          <a:p>
            <a:r>
              <a:rPr lang="en-US" dirty="0"/>
              <a:t>All paths are resolved relative to </a:t>
            </a:r>
            <a:r>
              <a:rPr lang="en-US" dirty="0" err="1"/>
              <a:t>edu</a:t>
            </a:r>
            <a:r>
              <a:rPr lang="en-US" dirty="0"/>
              <a:t>/</a:t>
            </a:r>
            <a:r>
              <a:rPr lang="en-US" dirty="0" err="1"/>
              <a:t>nust</a:t>
            </a:r>
            <a:r>
              <a:rPr lang="en-US" dirty="0"/>
              <a:t>/game/assets/audio/</a:t>
            </a:r>
          </a:p>
        </p:txBody>
      </p:sp>
    </p:spTree>
    <p:extLst>
      <p:ext uri="{BB962C8B-B14F-4D97-AF65-F5344CB8AC3E}">
        <p14:creationId xmlns:p14="http://schemas.microsoft.com/office/powerpoint/2010/main" val="1628200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A9EF-9A23-AA1C-6AAC-5B2A4BA0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8E67-2772-C1C5-FCAE-525A89F575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Systems &amp; </a:t>
            </a:r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222E3-CA1C-D3EF-A032-FDA23BC02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Deep Dive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06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2D5D-1406-B1FD-C811-45742009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36FC-78C3-F876-F729-79D6E43E2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998B-4BED-5D74-0F50-5BD8DD46D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that loads assets once and reuses them</a:t>
            </a:r>
          </a:p>
          <a:p>
            <a:r>
              <a:rPr lang="en-US" dirty="0"/>
              <a:t>Uses an </a:t>
            </a:r>
            <a:r>
              <a:rPr lang="en-US" dirty="0" err="1"/>
              <a:t>enum</a:t>
            </a:r>
            <a:r>
              <a:rPr lang="en-US" dirty="0"/>
              <a:t> interface for Asset Type</a:t>
            </a:r>
          </a:p>
          <a:p>
            <a:r>
              <a:rPr lang="en-US" dirty="0"/>
              <a:t>Has a cache of loaded images</a:t>
            </a:r>
          </a:p>
          <a:p>
            <a:r>
              <a:rPr lang="en-US" dirty="0"/>
              <a:t>Used to loads images for character, enemy and boss etc.</a:t>
            </a:r>
          </a:p>
        </p:txBody>
      </p:sp>
    </p:spTree>
    <p:extLst>
      <p:ext uri="{BB962C8B-B14F-4D97-AF65-F5344CB8AC3E}">
        <p14:creationId xmlns:p14="http://schemas.microsoft.com/office/powerpoint/2010/main" val="987038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81D3E-7753-7446-669D-2137B961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F118-7D28-AFC5-552A-5EB97FB2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0E06-6852-391A-CA8F-C011DA15D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Collects Damageable, Damaging, and Concrete objects and resolves collisions</a:t>
            </a:r>
          </a:p>
          <a:p>
            <a:r>
              <a:rPr lang="en-US" dirty="0"/>
              <a:t>Three types of Collision</a:t>
            </a:r>
          </a:p>
          <a:p>
            <a:pPr lvl="1"/>
            <a:r>
              <a:rPr lang="en-US" dirty="0"/>
              <a:t>Concrete</a:t>
            </a:r>
          </a:p>
          <a:p>
            <a:pPr lvl="1"/>
            <a:r>
              <a:rPr lang="en-US" dirty="0"/>
              <a:t>Damaging</a:t>
            </a:r>
          </a:p>
          <a:p>
            <a:pPr lvl="1"/>
            <a:r>
              <a:rPr lang="en-US" dirty="0"/>
              <a:t>Damageable</a:t>
            </a:r>
          </a:p>
          <a:p>
            <a:r>
              <a:rPr lang="en-US" dirty="0"/>
              <a:t>Notifies the objects that the collision has occurred with reference to 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01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332B-B5AB-413E-DBC7-9E592F95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3AA5-F3C3-8774-72F3-CEA1E1E6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 (Interactions)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28D47-CE04-0316-1223-D59F30CE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Bullet hits enemy, increase the follow radius of the enemy</a:t>
            </a:r>
          </a:p>
          <a:p>
            <a:r>
              <a:rPr lang="en-US" dirty="0"/>
              <a:t>Award kill score when an enemy dies</a:t>
            </a:r>
          </a:p>
          <a:p>
            <a:pPr lvl="1"/>
            <a:r>
              <a:rPr lang="en-US" dirty="0"/>
              <a:t>Separate for each enemy type</a:t>
            </a:r>
          </a:p>
        </p:txBody>
      </p:sp>
    </p:spTree>
    <p:extLst>
      <p:ext uri="{BB962C8B-B14F-4D97-AF65-F5344CB8AC3E}">
        <p14:creationId xmlns:p14="http://schemas.microsoft.com/office/powerpoint/2010/main" val="1505761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7FB0-0261-3752-DEE2-10D32E1F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5BEA-140A-E35B-9693-DD21AE5E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Manager (Hitbox)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EBC9-BD9C-FBEC-5EAF-B84CA16EA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Performs AABB collision checks</a:t>
            </a:r>
          </a:p>
          <a:p>
            <a:r>
              <a:rPr lang="en-US" dirty="0"/>
              <a:t>Supports debug visualization</a:t>
            </a:r>
          </a:p>
          <a:p>
            <a:r>
              <a:rPr lang="en-US" dirty="0"/>
              <a:t>Separate methods for collision with each sides of the AABB rectangle</a:t>
            </a:r>
          </a:p>
        </p:txBody>
      </p:sp>
    </p:spTree>
    <p:extLst>
      <p:ext uri="{BB962C8B-B14F-4D97-AF65-F5344CB8AC3E}">
        <p14:creationId xmlns:p14="http://schemas.microsoft.com/office/powerpoint/2010/main" val="4125019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E1A79-DAE3-7D46-B2BE-85902408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D807-19F2-2A48-D28E-DFBD90E9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finder (</a:t>
            </a:r>
            <a:r>
              <a:rPr lang="en-US" dirty="0" err="1"/>
              <a:t>MapNodeSetter</a:t>
            </a:r>
            <a:r>
              <a:rPr lang="en-US" dirty="0"/>
              <a:t> – Initialization)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DD84-1665-C3B7-D007-72A55D45F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First creates a grid of nodes using native fixed size 2D array in </a:t>
            </a:r>
            <a:r>
              <a:rPr lang="en-US" dirty="0" err="1"/>
              <a:t>MapNodeSetter</a:t>
            </a:r>
            <a:endParaRPr lang="en-US" dirty="0"/>
          </a:p>
          <a:p>
            <a:r>
              <a:rPr lang="en-US" dirty="0"/>
              <a:t>Loops over the the Level Collision Mask to determine walkable area</a:t>
            </a:r>
          </a:p>
          <a:p>
            <a:r>
              <a:rPr lang="en-US" dirty="0"/>
              <a:t>A* search ready to calculate path from any given point to another one</a:t>
            </a:r>
          </a:p>
        </p:txBody>
      </p:sp>
    </p:spTree>
    <p:extLst>
      <p:ext uri="{BB962C8B-B14F-4D97-AF65-F5344CB8AC3E}">
        <p14:creationId xmlns:p14="http://schemas.microsoft.com/office/powerpoint/2010/main" val="499408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D2AA-B012-E877-FACA-882949DB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369D-FEB6-63AD-1992-0AE7FB20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TODO: Path finder (A*)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3EB7-F345-3FDE-D4C8-07F65A42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Explanation of Algo, include Node class also</a:t>
            </a:r>
          </a:p>
        </p:txBody>
      </p:sp>
    </p:spTree>
    <p:extLst>
      <p:ext uri="{BB962C8B-B14F-4D97-AF65-F5344CB8AC3E}">
        <p14:creationId xmlns:p14="http://schemas.microsoft.com/office/powerpoint/2010/main" val="801193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3486-F8B2-1D49-2E88-2DDB9DDE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460F-9548-F18B-1BEA-352F4DBD1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TODO: Weapon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F696-5FB3-D0C3-FBF9-A7E43D6CC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Explanation of the working of weapon system</a:t>
            </a:r>
          </a:p>
          <a:p>
            <a:r>
              <a:rPr lang="en-US" dirty="0"/>
              <a:t>How weapons work</a:t>
            </a:r>
          </a:p>
          <a:p>
            <a:r>
              <a:rPr lang="en-US" dirty="0"/>
              <a:t>Ammo working</a:t>
            </a:r>
          </a:p>
          <a:p>
            <a:r>
              <a:rPr lang="en-US" dirty="0"/>
              <a:t>How UI changes</a:t>
            </a:r>
          </a:p>
          <a:p>
            <a:r>
              <a:rPr lang="en-US" dirty="0"/>
              <a:t>Bullets logic</a:t>
            </a:r>
          </a:p>
        </p:txBody>
      </p:sp>
    </p:spTree>
    <p:extLst>
      <p:ext uri="{BB962C8B-B14F-4D97-AF65-F5344CB8AC3E}">
        <p14:creationId xmlns:p14="http://schemas.microsoft.com/office/powerpoint/2010/main" val="2396406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FA60-FEE9-F550-608A-A3308ECB1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D29E-FBEB-5862-96F5-233FB28B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TODO: HUD Bars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E31D-27E5-3FD5-9E5E-C46E73CFF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Explanation of HUD Bars</a:t>
            </a:r>
          </a:p>
        </p:txBody>
      </p:sp>
    </p:spTree>
    <p:extLst>
      <p:ext uri="{BB962C8B-B14F-4D97-AF65-F5344CB8AC3E}">
        <p14:creationId xmlns:p14="http://schemas.microsoft.com/office/powerpoint/2010/main" val="13262198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3B07C-428A-EBDC-D40E-A93C0533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7A8E-A2D3-75F9-540F-E7F749A7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Management In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840DF-9A93-02CD-0394-861CEB6AE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Audios </a:t>
            </a:r>
          </a:p>
          <a:p>
            <a:pPr lvl="1"/>
            <a:r>
              <a:rPr lang="en-US" dirty="0"/>
              <a:t>Exposes methods for sound effects and music </a:t>
            </a:r>
            <a:r>
              <a:rPr lang="en-US" dirty="0" err="1"/>
              <a:t>refrences</a:t>
            </a:r>
            <a:endParaRPr lang="en-US" dirty="0"/>
          </a:p>
          <a:p>
            <a:pPr lvl="1"/>
            <a:r>
              <a:rPr lang="en-US" dirty="0"/>
              <a:t>Randomized sound effect selection</a:t>
            </a:r>
          </a:p>
          <a:p>
            <a:pPr lvl="1"/>
            <a:r>
              <a:rPr lang="en-US" dirty="0"/>
              <a:t>Usage: </a:t>
            </a:r>
            <a:r>
              <a:rPr lang="en-US" dirty="0" err="1"/>
              <a:t>Audios.clickNeutralRef</a:t>
            </a:r>
            <a:r>
              <a:rPr lang="en-US" dirty="0"/>
              <a:t>().</a:t>
            </a:r>
            <a:r>
              <a:rPr lang="en-US" dirty="0" err="1"/>
              <a:t>ifPresent</a:t>
            </a:r>
            <a:r>
              <a:rPr lang="en-US" dirty="0"/>
              <a:t>(</a:t>
            </a:r>
            <a:r>
              <a:rPr lang="en-US" dirty="0" err="1"/>
              <a:t>SoundEffectReference</a:t>
            </a:r>
            <a:r>
              <a:rPr lang="en-US" dirty="0"/>
              <a:t>::play)</a:t>
            </a:r>
          </a:p>
          <a:p>
            <a:r>
              <a:rPr lang="en-US" dirty="0" err="1"/>
              <a:t>MusicManager</a:t>
            </a:r>
            <a:endParaRPr lang="en-US" dirty="0"/>
          </a:p>
          <a:p>
            <a:pPr lvl="1"/>
            <a:r>
              <a:rPr lang="en-US" dirty="0"/>
              <a:t>Uses Music references from Audios</a:t>
            </a:r>
          </a:p>
          <a:p>
            <a:pPr lvl="1"/>
            <a:r>
              <a:rPr lang="en-US" dirty="0"/>
              <a:t>Transitions to the music of the given scene</a:t>
            </a:r>
          </a:p>
          <a:p>
            <a:pPr lvl="2"/>
            <a:r>
              <a:rPr lang="en-US" dirty="0"/>
              <a:t>Does by fading out the old one, and fading in the new one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244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F7CD-1468-E5D0-FB05-6F473488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D150-E37E-417E-E28B-F337A4FF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Gradle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1BFF0-A85D-A321-D32B-80C66AA7B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packageWindows</a:t>
            </a:r>
            <a:endParaRPr lang="en-US" dirty="0"/>
          </a:p>
          <a:p>
            <a:pPr lvl="1"/>
            <a:r>
              <a:rPr lang="en-US" dirty="0"/>
              <a:t>Packages into an exe installer</a:t>
            </a:r>
          </a:p>
          <a:p>
            <a:r>
              <a:rPr lang="en-US" dirty="0" err="1"/>
              <a:t>packageMac</a:t>
            </a:r>
            <a:endParaRPr lang="en-US" dirty="0"/>
          </a:p>
          <a:p>
            <a:pPr lvl="1"/>
            <a:r>
              <a:rPr lang="en-US" dirty="0"/>
              <a:t>Packages into an dmg installer</a:t>
            </a:r>
          </a:p>
          <a:p>
            <a:r>
              <a:rPr lang="en-US" dirty="0" err="1"/>
              <a:t>packageLinux</a:t>
            </a:r>
            <a:endParaRPr lang="en-US" dirty="0"/>
          </a:p>
          <a:p>
            <a:pPr lvl="1"/>
            <a:r>
              <a:rPr lang="en-US" dirty="0"/>
              <a:t>Packages into </a:t>
            </a:r>
            <a:r>
              <a:rPr lang="en-US" dirty="0" err="1"/>
              <a:t>linux</a:t>
            </a:r>
            <a:r>
              <a:rPr lang="en-US" dirty="0"/>
              <a:t> installer</a:t>
            </a:r>
          </a:p>
          <a:p>
            <a:r>
              <a:rPr lang="en-US" dirty="0" err="1"/>
              <a:t>buildExecutableJar</a:t>
            </a:r>
            <a:endParaRPr lang="en-US" dirty="0"/>
          </a:p>
          <a:p>
            <a:pPr lvl="1"/>
            <a:r>
              <a:rPr lang="en-US" dirty="0"/>
              <a:t>Builds a jar that can be opened by JRE</a:t>
            </a:r>
          </a:p>
          <a:p>
            <a:r>
              <a:rPr lang="en-US" dirty="0"/>
              <a:t>run</a:t>
            </a:r>
          </a:p>
          <a:p>
            <a:pPr lvl="1"/>
            <a:r>
              <a:rPr lang="en-US" dirty="0"/>
              <a:t>Runs the application with full logging (</a:t>
            </a:r>
            <a:r>
              <a:rPr lang="en-US" dirty="0" err="1"/>
              <a:t>Maxiumum</a:t>
            </a:r>
            <a:r>
              <a:rPr lang="en-US" dirty="0"/>
              <a:t> log level defined in Main class)</a:t>
            </a:r>
          </a:p>
          <a:p>
            <a:r>
              <a:rPr lang="en-US" dirty="0" err="1"/>
              <a:t>runNoLogs</a:t>
            </a:r>
            <a:endParaRPr lang="en-US" dirty="0"/>
          </a:p>
          <a:p>
            <a:pPr lvl="1"/>
            <a:r>
              <a:rPr lang="en-US" dirty="0"/>
              <a:t>Runs the application with no logging</a:t>
            </a:r>
          </a:p>
          <a:p>
            <a:r>
              <a:rPr lang="en-US" dirty="0" err="1"/>
              <a:t>runTestLogger</a:t>
            </a:r>
            <a:endParaRPr lang="en-US" dirty="0"/>
          </a:p>
          <a:p>
            <a:pPr lvl="1"/>
            <a:r>
              <a:rPr lang="en-US" dirty="0"/>
              <a:t>Runs a test that tests the logger of all formats, error message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855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843B-5241-A50A-03E8-CFA0E999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EE5DC-9C9C-1C2A-1D1C-AFF1C605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Generation Pipeline (Misc.)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8D11-C2EE-7803-A864-3D7F024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Requires Python &amp; Mermaid CLI in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Generate UML using a python script</a:t>
            </a:r>
          </a:p>
          <a:p>
            <a:r>
              <a:rPr lang="en-US" dirty="0"/>
              <a:t>Uses mermaid for to scaffold structure, then renders using the mermaid renderer</a:t>
            </a:r>
          </a:p>
          <a:p>
            <a:r>
              <a:rPr lang="en-US" dirty="0"/>
              <a:t>AI Generation Disclosure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00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6578-D6D6-CCB9-72B3-7A34E651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55E11-D18B-8F8B-FFFC-D13A97ADCC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Scenes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B7672-44A2-ED99-D34A-7244371E2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Breakdown of each scene</a:t>
            </a:r>
          </a:p>
        </p:txBody>
      </p:sp>
    </p:spTree>
    <p:extLst>
      <p:ext uri="{BB962C8B-B14F-4D97-AF65-F5344CB8AC3E}">
        <p14:creationId xmlns:p14="http://schemas.microsoft.com/office/powerpoint/2010/main" val="24164306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51AE-8604-6769-4E78-4D9708C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0E45-EA22-0882-6C50-E3CD91D2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StartScene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0FADF-7AB3-341E-4B70-44EEA562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Main entry point of the game</a:t>
            </a:r>
          </a:p>
          <a:p>
            <a:r>
              <a:rPr lang="en-US" dirty="0"/>
              <a:t>Routes to main game and high scores along with exit game button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37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6553-E465-27FA-4071-0979840F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E300-392C-0366-7BA4-4AE6F446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LevelScene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2D8A-9B8D-CAB4-192C-869854245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main level of the game</a:t>
            </a:r>
          </a:p>
          <a:p>
            <a:r>
              <a:rPr lang="en-US" dirty="0"/>
              <a:t>Objective is to clear out all zombies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397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B3702-0803-F490-1619-B556E805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BA42-5819-8C84-96BB-42E150C8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LevelScene</a:t>
            </a:r>
            <a:r>
              <a:rPr lang="en-US" dirty="0"/>
              <a:t> (Collision Mask)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7A84-5643-9BFD-2B56-EAEEF7EB9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Defines a list of rectangles that are used to defined unwalkable areas</a:t>
            </a:r>
          </a:p>
          <a:p>
            <a:r>
              <a:rPr lang="en-US" dirty="0"/>
              <a:t>IMAGE 1: showing code ss of a rectangle start point</a:t>
            </a:r>
          </a:p>
          <a:p>
            <a:r>
              <a:rPr lang="en-US" dirty="0"/>
              <a:t>IMAGE 2: showing that point in game using dev console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296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9962-8489-0E27-F0EC-21FCC56E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B74E-B177-A845-0E1F-E7C9D4C8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LevelScene</a:t>
            </a:r>
            <a:r>
              <a:rPr lang="en-US" dirty="0"/>
              <a:t> (Enemy Spawning)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E718-0F12-F9CE-3B84-74072257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Spawns when the game is loaded</a:t>
            </a:r>
          </a:p>
          <a:p>
            <a:r>
              <a:rPr lang="en-US" dirty="0"/>
              <a:t>Generates spawn points across a grid with random offsets and validation.</a:t>
            </a:r>
          </a:p>
          <a:p>
            <a:r>
              <a:rPr lang="en-US" dirty="0"/>
              <a:t>Avoids non-</a:t>
            </a:r>
            <a:r>
              <a:rPr lang="en-US" dirty="0" err="1"/>
              <a:t>spawnable</a:t>
            </a:r>
            <a:r>
              <a:rPr lang="en-US" dirty="0"/>
              <a:t> area</a:t>
            </a:r>
          </a:p>
          <a:p>
            <a:r>
              <a:rPr lang="en-US" dirty="0"/>
              <a:t>Validates with collision mask and movement checks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25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7883-3E72-1943-65DD-F905E463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B746-0A99-B639-1248-63D0B754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LevelScene</a:t>
            </a:r>
            <a:r>
              <a:rPr lang="en-US" dirty="0"/>
              <a:t> (Objects placement)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80245-3FD8-9886-30E8-617D8BAD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33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Parses placement file lines into </a:t>
            </a:r>
            <a:r>
              <a:rPr lang="en-US" dirty="0" err="1"/>
              <a:t>StaticObject</a:t>
            </a:r>
            <a:r>
              <a:rPr lang="en-US" dirty="0"/>
              <a:t> instances</a:t>
            </a:r>
          </a:p>
          <a:p>
            <a:r>
              <a:rPr lang="en-US" dirty="0"/>
              <a:t>Can regenerate placements via builder helpers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26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</TotalTime>
  <Words>2209</Words>
  <Application>Microsoft Macintosh PowerPoint</Application>
  <PresentationFormat>Widescreen</PresentationFormat>
  <Paragraphs>377</Paragraphs>
  <Slides>48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Zombie Zero</vt:lpstr>
      <vt:lpstr>Project Goals</vt:lpstr>
      <vt:lpstr>Team Distribution</vt:lpstr>
      <vt:lpstr>Game Overview</vt:lpstr>
      <vt:lpstr>Architecture Overview</vt:lpstr>
      <vt:lpstr>Game Engine High Level Overview</vt:lpstr>
      <vt:lpstr>Game Engine</vt:lpstr>
      <vt:lpstr>GameWorld</vt:lpstr>
      <vt:lpstr>GameScene</vt:lpstr>
      <vt:lpstr>GameScene (LifeCycle)</vt:lpstr>
      <vt:lpstr>GameScene (GameCamera)</vt:lpstr>
      <vt:lpstr>GameScene (Render Order And Culling)</vt:lpstr>
      <vt:lpstr>GameScene (Debug Rendering)</vt:lpstr>
      <vt:lpstr>GameObject</vt:lpstr>
      <vt:lpstr>Component</vt:lpstr>
      <vt:lpstr>Component (Transform - Pre Existing)</vt:lpstr>
      <vt:lpstr>Component (Transform - Pre Existing)</vt:lpstr>
      <vt:lpstr>Component (BoxRenderer - Pre Existing)</vt:lpstr>
      <vt:lpstr>Component (CircleRenderer - Pre Existing)</vt:lpstr>
      <vt:lpstr>Component (SpriteRenderer - Pre Existing)</vt:lpstr>
      <vt:lpstr>Rendering Pipeline</vt:lpstr>
      <vt:lpstr>Input Handling</vt:lpstr>
      <vt:lpstr>DevConsole</vt:lpstr>
      <vt:lpstr>DevConsole (Command)</vt:lpstr>
      <vt:lpstr>DevConsole (Default Commands)</vt:lpstr>
      <vt:lpstr>Resources Management (Resources)</vt:lpstr>
      <vt:lpstr>Math Library</vt:lpstr>
      <vt:lpstr>GameLogger</vt:lpstr>
      <vt:lpstr>Audio Management</vt:lpstr>
      <vt:lpstr>Audio Management (GameAudioManager)</vt:lpstr>
      <vt:lpstr>Systems &amp; Misc</vt:lpstr>
      <vt:lpstr>Asset Manager</vt:lpstr>
      <vt:lpstr>Collision Manager</vt:lpstr>
      <vt:lpstr>Collision Manager (Interactions)</vt:lpstr>
      <vt:lpstr>Collision Manager (Hitbox)</vt:lpstr>
      <vt:lpstr>Path finder (MapNodeSetter – Initialization)</vt:lpstr>
      <vt:lpstr>TODO: Path finder (A*)</vt:lpstr>
      <vt:lpstr>TODO: Weapon System</vt:lpstr>
      <vt:lpstr>TODO: HUD Bars</vt:lpstr>
      <vt:lpstr>Audio Management In Game</vt:lpstr>
      <vt:lpstr>Gradle Tasks</vt:lpstr>
      <vt:lpstr>UML Generation Pipeline (Misc.)</vt:lpstr>
      <vt:lpstr>Scenes</vt:lpstr>
      <vt:lpstr>StartScene</vt:lpstr>
      <vt:lpstr>LevelScene</vt:lpstr>
      <vt:lpstr>LevelScene (Collision Mask)</vt:lpstr>
      <vt:lpstr>LevelScene (Enemy Spawning)</vt:lpstr>
      <vt:lpstr>LevelScene (Objects placement)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Mujtaba</dc:creator>
  <cp:lastModifiedBy>Muhammad Mujtaba</cp:lastModifiedBy>
  <cp:revision>2</cp:revision>
  <cp:lastPrinted>2026-05-10T10:15:10Z</cp:lastPrinted>
  <dcterms:created xsi:type="dcterms:W3CDTF">2026-05-09T09:22:46Z</dcterms:created>
  <dcterms:modified xsi:type="dcterms:W3CDTF">2026-05-10T10:20:43Z</dcterms:modified>
</cp:coreProperties>
</file>